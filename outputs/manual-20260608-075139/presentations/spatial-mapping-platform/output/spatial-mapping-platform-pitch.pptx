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a154da1dda4b3f" /><Relationship Type="http://schemas.openxmlformats.org/officeDocument/2006/relationships/extended-properties" Target="/docProps/app.xml" Id="Rd5f27d10d5fa4d1c" /><Relationship Type="http://schemas.openxmlformats.org/officeDocument/2006/relationships/officeDocument" Target="/ppt/presentation.xml" Id="R86fefe40744b46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4ffb9f1b594c91"/>
  </p:sldMasterIdLst>
  <p:notesMasterIdLst>
    <p:notesMasterId xmlns:r="http://schemas.openxmlformats.org/officeDocument/2006/relationships" r:id="R61f3ca7fcee84cfa"/>
  </p:notesMasterIdLst>
  <p:sldIdLst>
    <p:sldId xmlns:r="http://schemas.openxmlformats.org/officeDocument/2006/relationships" id="256" r:id="R5e7e9bf5b3e04560"/>
    <p:sldId xmlns:r="http://schemas.openxmlformats.org/officeDocument/2006/relationships" id="257" r:id="Rf8db1c08bcd646fc"/>
    <p:sldId xmlns:r="http://schemas.openxmlformats.org/officeDocument/2006/relationships" id="258" r:id="R1448ca5a43914a78"/>
    <p:sldId xmlns:r="http://schemas.openxmlformats.org/officeDocument/2006/relationships" id="259" r:id="R2b42fc3af1114313"/>
    <p:sldId xmlns:r="http://schemas.openxmlformats.org/officeDocument/2006/relationships" id="260" r:id="R5366a00ed9604dc7"/>
    <p:sldId xmlns:r="http://schemas.openxmlformats.org/officeDocument/2006/relationships" id="261" r:id="R377d07a572764ed0"/>
    <p:sldId xmlns:r="http://schemas.openxmlformats.org/officeDocument/2006/relationships" id="262" r:id="Re8a8bf13e3f04f81"/>
    <p:sldId xmlns:r="http://schemas.openxmlformats.org/officeDocument/2006/relationships" id="263" r:id="Rf207b0e320ad45e6"/>
    <p:sldId xmlns:r="http://schemas.openxmlformats.org/officeDocument/2006/relationships" id="264" r:id="Re7e273f7de044252"/>
    <p:sldId xmlns:r="http://schemas.openxmlformats.org/officeDocument/2006/relationships" id="265" r:id="Rfeefe1be62fb4f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45c870fc67435d" /><Relationship Type="http://schemas.openxmlformats.org/officeDocument/2006/relationships/slideMaster" Target="/ppt/slideMasters/slideMaster1.xml" Id="Rae4ffb9f1b594c91" /><Relationship Type="http://schemas.openxmlformats.org/officeDocument/2006/relationships/notesMaster" Target="/ppt/notesMasters/notesMaster1.xml" Id="R61f3ca7fcee84cfa" /><Relationship Type="http://schemas.openxmlformats.org/officeDocument/2006/relationships/presProps" Target="/ppt/presProps.xml" Id="Rce19a64598414d89" /><Relationship Type="http://schemas.openxmlformats.org/officeDocument/2006/relationships/viewProps" Target="/ppt/viewProps.xml" Id="R5baf85482eed46ba" /><Relationship Type="http://schemas.openxmlformats.org/officeDocument/2006/relationships/tableStyles" Target="/ppt/tableStyles.xml" Id="R83259bd27e9d466c" /><Relationship Type="http://schemas.openxmlformats.org/officeDocument/2006/relationships/slide" Target="/ppt/slides/slide1.xml" Id="R5e7e9bf5b3e04560" /><Relationship Type="http://schemas.openxmlformats.org/officeDocument/2006/relationships/slide" Target="/ppt/slides/slide2.xml" Id="Rf8db1c08bcd646fc" /><Relationship Type="http://schemas.openxmlformats.org/officeDocument/2006/relationships/slide" Target="/ppt/slides/slide3.xml" Id="R1448ca5a43914a78" /><Relationship Type="http://schemas.openxmlformats.org/officeDocument/2006/relationships/slide" Target="/ppt/slides/slide4.xml" Id="R2b42fc3af1114313" /><Relationship Type="http://schemas.openxmlformats.org/officeDocument/2006/relationships/slide" Target="/ppt/slides/slide5.xml" Id="R5366a00ed9604dc7" /><Relationship Type="http://schemas.openxmlformats.org/officeDocument/2006/relationships/slide" Target="/ppt/slides/slide6.xml" Id="R377d07a572764ed0" /><Relationship Type="http://schemas.openxmlformats.org/officeDocument/2006/relationships/slide" Target="/ppt/slides/slide7.xml" Id="Re8a8bf13e3f04f81" /><Relationship Type="http://schemas.openxmlformats.org/officeDocument/2006/relationships/slide" Target="/ppt/slides/slide8.xml" Id="Rf207b0e320ad45e6" /><Relationship Type="http://schemas.openxmlformats.org/officeDocument/2006/relationships/slide" Target="/ppt/slides/slide9.xml" Id="Re7e273f7de044252" /><Relationship Type="http://schemas.openxmlformats.org/officeDocument/2006/relationships/slide" Target="/ppt/slides/slide10.xml" Id="Rfeefe1be62fb4f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1fb18853874a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26c9b3fd714ab9" /><Relationship Type="http://schemas.openxmlformats.org/officeDocument/2006/relationships/notesMaster" Target="/ppt/notesMasters/notesMaster1.xml" Id="Rdf24ad79a7fd47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50e18ab0404e92" /><Relationship Type="http://schemas.openxmlformats.org/officeDocument/2006/relationships/notesMaster" Target="/ppt/notesMasters/notesMaster1.xml" Id="R45d6f6982e0940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677d768fe54f69" /><Relationship Type="http://schemas.openxmlformats.org/officeDocument/2006/relationships/notesMaster" Target="/ppt/notesMasters/notesMaster1.xml" Id="Ra5984441fb2e4f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f6512792bd444f" /><Relationship Type="http://schemas.openxmlformats.org/officeDocument/2006/relationships/notesMaster" Target="/ppt/notesMasters/notesMaster1.xml" Id="R8d7bc09451e94b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666530312344fd" /><Relationship Type="http://schemas.openxmlformats.org/officeDocument/2006/relationships/notesMaster" Target="/ppt/notesMasters/notesMaster1.xml" Id="R313f60103ed847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5ea33ccf8f4f51" /><Relationship Type="http://schemas.openxmlformats.org/officeDocument/2006/relationships/notesMaster" Target="/ppt/notesMasters/notesMaster1.xml" Id="Rf106caa8a9a942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7aff66ae1d47f0" /><Relationship Type="http://schemas.openxmlformats.org/officeDocument/2006/relationships/notesMaster" Target="/ppt/notesMasters/notesMaster1.xml" Id="R9a59eb4a62f54b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76d948e4a14f01" /><Relationship Type="http://schemas.openxmlformats.org/officeDocument/2006/relationships/notesMaster" Target="/ppt/notesMasters/notesMaster1.xml" Id="Rf4535866519443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86092e4e7c472f" /><Relationship Type="http://schemas.openxmlformats.org/officeDocument/2006/relationships/notesMaster" Target="/ppt/notesMasters/notesMaster1.xml" Id="R478acb9009e140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0f57b4fba841bf" /><Relationship Type="http://schemas.openxmlformats.org/officeDocument/2006/relationships/notesMaster" Target="/ppt/notesMasters/notesMaster1.xml" Id="R84a7faa374484c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08bb580f44b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dee2b598d04fcb" /><Relationship Type="http://schemas.openxmlformats.org/officeDocument/2006/relationships/slideLayout" Target="/ppt/slideLayouts/slideLayout1.xml" Id="R386ef1da99664d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6ef1da99664d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035fa37724aa5" /><Relationship Type="http://schemas.openxmlformats.org/officeDocument/2006/relationships/notesSlide" Target="/ppt/notesSlides/notesSlide1.xml" Id="R689ebf3df08645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7d5de7b564010" /><Relationship Type="http://schemas.openxmlformats.org/officeDocument/2006/relationships/notesSlide" Target="/ppt/notesSlides/notesSlide2.xml" Id="R16d62d66af8942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293ee99164a0a" /><Relationship Type="http://schemas.openxmlformats.org/officeDocument/2006/relationships/notesSlide" Target="/ppt/notesSlides/notesSlide3.xml" Id="R55d12246cdce4b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d4fc467814719" /><Relationship Type="http://schemas.openxmlformats.org/officeDocument/2006/relationships/notesSlide" Target="/ppt/notesSlides/notesSlide4.xml" Id="Rd6518c2bb8ba4a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746ed0f98484e" /><Relationship Type="http://schemas.openxmlformats.org/officeDocument/2006/relationships/notesSlide" Target="/ppt/notesSlides/notesSlide5.xml" Id="Racc5232b054947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03838b1084b67" /><Relationship Type="http://schemas.openxmlformats.org/officeDocument/2006/relationships/notesSlide" Target="/ppt/notesSlides/notesSlide6.xml" Id="R1ff653d6fd644e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f07a8833a4f69" /><Relationship Type="http://schemas.openxmlformats.org/officeDocument/2006/relationships/notesSlide" Target="/ppt/notesSlides/notesSlide7.xml" Id="R6e35315cc49c44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ceaa4d0434ab3" /><Relationship Type="http://schemas.openxmlformats.org/officeDocument/2006/relationships/notesSlide" Target="/ppt/notesSlides/notesSlide8.xml" Id="R314cff66e82b41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c7c2d99fc48ad" /><Relationship Type="http://schemas.openxmlformats.org/officeDocument/2006/relationships/notesSlide" Target="/ppt/notesSlides/notesSlide9.xml" Id="R5cd5bdf96f3746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31891b59f4869" /><Relationship Type="http://schemas.openxmlformats.org/officeDocument/2006/relationships/notesSlide" Target="/ppt/notesSlides/notesSlide10.xml" Id="Rc85b9fef78444e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618FCC-CAB5-43A2-A855-9DE5D191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FA9DB-3F7A-4B9F-B88E-ECB2D4CB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1695C-88EA-4B10-9B75-2384979B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2C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8C2CF"/>
                </a:solidFill>
                <a:latin typeface="Aptos Mono"/>
                <a:ea typeface="Aptos Mono"/>
                <a:cs typeface="Aptos Mono"/>
              </a:rPr>
              <a:t>CLIENT PITCH / SPATIAL MAPPING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93F45-BF1C-46D8-ABD7-D0799DF6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572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Turn spaces into reusable AR-ready maps.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8924D-71EC-475D-9E27-922553C2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619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A web-first platform for scanning environments, reconstructing photorealistic 3D maps, localizing devices, and anchoring persistent digital content.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9F15E-EC43-41EC-8B52-F63A75D1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6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0545F-E122-4B84-A3E5-DE11EC5F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8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48FA0-0E68-4EE3-AC84-75376D1B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F6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64B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133C4-EB79-4B8E-BB97-0CC24EA5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434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8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A9B0B-2952-43F3-8C65-A66C7C9C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19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F6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64B"/>
                </a:solidFill>
                <a:latin typeface="Aptos"/>
                <a:ea typeface="Aptos"/>
                <a:cs typeface="Aptos"/>
              </a:rPr>
              <a:t>Reconstruct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95096-224B-42DA-BB89-AA60590C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434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8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99980-2A8C-4D36-BB9E-F6429D22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19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F6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64B"/>
                </a:solidFill>
                <a:latin typeface="Aptos"/>
                <a:ea typeface="Aptos"/>
                <a:cs typeface="Aptos"/>
              </a:rPr>
              <a:t>Visualize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1F67A-3AB7-4413-92F1-0F4E652B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434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33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A1F9D-B47C-41FA-8802-1646E0A5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19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C8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C8D6"/>
                </a:solidFill>
                <a:latin typeface="Aptos"/>
                <a:ea typeface="Aptos"/>
                <a:cs typeface="Aptos"/>
              </a:rPr>
              <a:t>Localize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7F59A-F477-4068-BE86-93DBE1F5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434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33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1C808-96C3-408B-B80C-ACD18949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19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C8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C8D6"/>
                </a:solidFill>
                <a:latin typeface="Aptos"/>
                <a:ea typeface="Aptos"/>
                <a:cs typeface="Aptos"/>
              </a:rPr>
              <a:t>Anchor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D245A-3BA0-40E3-8991-E912822F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B33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D4EF5-ABD5-4397-A746-9DB065FE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19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C8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C8D6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D5CD0-4D94-4238-AA77-C697C5F5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1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F2EE4-4ECF-404A-819C-DF5E81F7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097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rPr>
              <a:t>Open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1B08C-E498-4EE5-A288-700F22E0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716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2C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8C2CF"/>
                </a:solidFill>
                <a:latin typeface="Aptos Mono"/>
                <a:ea typeface="Aptos Mono"/>
                <a:cs typeface="Aptos Mono"/>
              </a:rPr>
              <a:t>client apps localize against reusable 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A40115-D46C-457E-AD89-24751B9E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1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04C11-897A-42FB-874C-99674DE1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rPr>
              <a:t>6DoF pose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6FCDE-C1BA-413F-90D0-F523366F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2C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8C2CF"/>
                </a:solidFill>
                <a:latin typeface="Aptos Mono"/>
                <a:ea typeface="Aptos Mono"/>
                <a:cs typeface="Aptos Mono"/>
              </a:rPr>
              <a:t>position, rotation, confidence, inliers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BB4B48-A131-46B0-AADC-57FF7A91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1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F47A6-39F2-4153-A9F5-F9BCF793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3D viewer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26439A-E63E-485B-9BA5-28CE2EE0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576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2C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8C2CF"/>
                </a:solidFill>
                <a:latin typeface="Aptos Mono"/>
                <a:ea typeface="Aptos Mono"/>
                <a:cs typeface="Aptos Mono"/>
              </a:rPr>
              <a:t>Gaussian Splat / point-cloud scene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C45858-2356-49FF-8D82-8DDDE199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4B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9AA4B2"/>
                </a:solidFill>
                <a:latin typeface="Aptos Mono"/>
                <a:ea typeface="Aptos Mono"/>
                <a:cs typeface="Aptos Mono"/>
              </a:rPr>
              <a:t>Sources: README.md; docs/demo_walkthrough.md; frontend/app/*; backend/api/*</a:t>
            </a:r>
          </a:p>
        </p:txBody>
      </p:sp>
    </p:spTree>
    <p:extLst>
      <p:ext uri="{BB962C8B-B14F-4D97-AF65-F5344CB8AC3E}">
        <p14:creationId xmlns:p14="http://schemas.microsoft.com/office/powerpoint/2010/main" val="2319884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6A87B-2F1A-4E75-9BB3-EFB35917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476AB-C87F-438F-8111-7B54C44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9FD62-E197-424B-A736-6BDF2AD6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THE MARKET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BFD39-B0CD-4223-ACE3-B3160732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Spatial experiences still break between capture, mapping, and deployment.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BFD7A-4328-4717-9403-7D38F543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28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Most teams can create a scan or an AR prototype. The hard part is turning that scan into a reusable positioning layer that many apps can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E9004-79D9-452F-A3E3-7CD4A81A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5C1A7-E483-4008-9F43-7F9F47B5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Closed VPS stacks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0F462-3282-486B-B45C-20B4F349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800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Accurate services exist, but buyers often inherit platform lock-in, limited map control, and constrained deployment paths.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1DBF8-AC61-452B-9CCF-12F27412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7EFD1-6DBF-428A-A54B-0CF932BD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956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Fragmented 3D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54A05-E8FF-4C69-B5FD-54D84647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2800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Capture, reconstruction, hosting, and AR anchoring are usually separate workflows with handoff loss between each tool.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7916D-447D-4DEA-99BD-B2C8FEDB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39F25-AD2D-4AA1-A760-6FBCFA25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Manual alignment tax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4FC86-5A0B-4E7A-902D-3EFB7EA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00450"/>
            <a:ext cx="2800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Agencies and app teams spend pilot time re-aligning content instead of building durable spatial experiences.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BB0B6-C565-4D5C-A6AD-88A2E734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0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342E6-360A-433C-9210-0EFD4B3B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Client need: one controlled map pipeline that makes the physical site reusable across AR, navigation, visualization, and operations.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8E445-3BA2-41CC-825B-9E48D45F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rPr>
              <a:t>Sources: idea.md; VPSGausianSplat vs. Multiset.ai gap analysis</a:t>
            </a:r>
          </a:p>
        </p:txBody>
      </p:sp>
    </p:spTree>
    <p:extLst>
      <p:ext uri="{BB962C8B-B14F-4D97-AF65-F5344CB8AC3E}">
        <p14:creationId xmlns:p14="http://schemas.microsoft.com/office/powerpoint/2010/main" val="4664552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253B34-4E16-4705-8BAE-2F7E20EC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F0CC6-08E5-4198-A770-C9FBA4DC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58FED-4F6B-424D-80FF-BFB218DC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PRODUCT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06F0F-C86B-497E-BCF1-1938DBF0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platform turns a site walkthrough into a reusable spatial service.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9C84B-A9A8-4A6F-9F3F-C9D0F982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466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3E594-EC9E-409E-858D-594634F9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01 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43D77-102C-4F63-8054-A2733ADB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Phone video or image set from the physical site.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253C2-F47A-4630-9B67-47F21B0C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527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9463F-3B59-4D25-9CE7-132E4BA8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28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B1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B1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AA6F6-E3EE-400A-AF84-2FC35DEC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86100"/>
            <a:ext cx="1466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369BC-A8BE-4DA0-BAB8-8855F225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02 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FCBE2-E7D2-42D6-9D7A-F136AFDB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43300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Frame extraction, COLMAP SfM, splat / PLY output.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EB884-5840-48F4-9D43-E177793A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576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C3825-5F92-40C2-B4E1-098E0657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33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B1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B1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040D5-69C8-4101-8324-AAAD0A25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1466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AE759-8D6F-43F1-8549-ACCCD491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03 Index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9A694-CA71-4600-B3AF-3D73491B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Feature descriptors stored in FAISS for retrieval.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FB520-169B-48F1-85EB-FDFED97D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95606-71A6-47FD-BA03-FD915CF3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28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7C8D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7C8D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9034B-E148-4F43-9D72-6F035E00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86100"/>
            <a:ext cx="1466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37C8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424F3-D453-4086-B2DB-89789784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04 Localize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8E858-56CF-4FD6-946C-0C649A6D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Query image returns pose, confidence, and inliers.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4D3DD-D033-4A05-B0BC-C26E58FF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576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36ED8-F60A-49D9-9528-48C85E7D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33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B1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B1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CFCD4-930E-47C0-B93B-1C3CB6E4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1466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A0C9AE-1660-4FDF-8AD2-E2763E6D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05 Anchor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E50B4C-BD06-4B2D-A220-5DFC69A2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Persistent objects saved against map coordinates.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1873D8-6971-47EE-AB8C-A7E88500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527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0825C-16EB-4906-B5EF-1482D24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28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B1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B1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7459C4-53B9-41D9-B5DE-4CB73D18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86100"/>
            <a:ext cx="1466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C63220-C311-4CEC-974E-CE97F716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06 Deploy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CA7368-86D7-45AB-A109-464CA2B1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43300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Unity / API clients reuse the same spatial map.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D71CC0-67D9-4ED1-B3CA-884FE9C8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0D1A4A-8FEE-40A9-894E-553D37B8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F6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F64B"/>
                </a:solidFill>
                <a:latin typeface="Aptos"/>
                <a:ea typeface="Aptos"/>
                <a:cs typeface="Aptos"/>
              </a:rPr>
              <a:t>Core MVP: scan -&gt; process -&gt; visualize -&gt; localize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5F8CE2-AA1C-42FF-B594-CDEE30E9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0"/>
            <a:ext cx="422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A4AA7E-23C8-4E9F-9F44-04BCD53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410200"/>
            <a:ext cx="396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 value: one map can support many spatial apps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3C2CAA-4057-48CD-827D-DF628FAB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rPr>
              <a:t>Sources: README.md; docs/demo_walkthrough.md; backend/workers/tasks.py; backend/services/vps.py</a:t>
            </a:r>
          </a:p>
        </p:txBody>
      </p:sp>
    </p:spTree>
    <p:extLst>
      <p:ext uri="{BB962C8B-B14F-4D97-AF65-F5344CB8AC3E}">
        <p14:creationId xmlns:p14="http://schemas.microsoft.com/office/powerpoint/2010/main" val="17272263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5297D0-23D9-42E5-BE72-91165FBE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1B8AD-97C2-4DFC-B50C-00DEB85D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3C955-B8DC-495F-849C-E1465392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2C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8C2CF"/>
                </a:solidFill>
                <a:latin typeface="Aptos Mono"/>
                <a:ea typeface="Aptos Mono"/>
                <a:cs typeface="Aptos Mono"/>
              </a:rPr>
              <a:t>PLATFORM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AF688-1DE7-4B9A-9864-8CBB7868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76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modular spatial cloud, already shaped for pilots and SDK integration.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9B0B3-A32A-4460-835C-1FF839A3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1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2DE8A-722D-415A-B325-9E0C151F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rPr>
              <a:t>Client surfaces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B61D9-8EFA-4533-9608-37D366F4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705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Next.js portal</a:t>
            </a:r>
          </a:p>
          <a:p xmlns:a="http://schemas.openxmlformats.org/drawingml/2006/main">
            <a:pPr algn="l">
              <a:defRPr sz="11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Scene upload, dashboard, 3D viewer, localization sandbox</a:t>
            </a:r>
          </a:p>
          <a:p xmlns:a="http://schemas.openxmlformats.org/drawingml/2006/main">
            <a:pPr algn="l">
              <a:defRPr sz="11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Unity SDK</a:t>
            </a:r>
          </a:p>
          <a:p xmlns:a="http://schemas.openxmlformats.org/drawingml/2006/main">
            <a:pPr algn="l">
              <a:defRPr sz="11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VPSClient, MapSpace, coordinate 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5BDFA-E644-46E4-B1FB-2FA1CE1F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32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CEBA6-354F-42B2-B4D0-A76D8A66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621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rPr>
              <a:t>API and orchestration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0A396-8837-4739-B62E-E0E67E25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705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 algn="l">
              <a:defRPr sz="11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/scene upload, process, frames, anchors, tiles</a:t>
            </a:r>
          </a:p>
          <a:p xmlns:a="http://schemas.openxmlformats.org/drawingml/2006/main">
            <a:pPr algn="l">
              <a:defRPr sz="11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/vps localize, evaluation, agent WebSocket</a:t>
            </a:r>
          </a:p>
          <a:p xmlns:a="http://schemas.openxmlformats.org/drawingml/2006/main">
            <a:pPr algn="l">
              <a:defRPr sz="11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Celery worker + Redis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AEC49-C268-4F7A-BCE1-00A5C0AE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1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12D38-D6A2-49C7-AAAB-7CFA450E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621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rPr>
              <a:t>Spatial engine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70470-361C-4595-961D-A4172A7F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66950"/>
            <a:ext cx="2705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ffmpeg frame extraction</a:t>
            </a:r>
          </a:p>
          <a:p xmlns:a="http://schemas.openxmlformats.org/drawingml/2006/main">
            <a:pPr algn="l">
              <a:defRPr sz="11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COLMAP Structure-from-Motion</a:t>
            </a:r>
          </a:p>
          <a:p xmlns:a="http://schemas.openxmlformats.org/drawingml/2006/main">
            <a:pPr algn="l">
              <a:defRPr sz="11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Gaussian Splat / fallback PLY</a:t>
            </a:r>
          </a:p>
          <a:p xmlns:a="http://schemas.openxmlformats.org/drawingml/2006/main">
            <a:pPr algn="l">
              <a:defRPr sz="11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ORB + SIFT fallback, FAISS, solvePnPRansac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B7BBB-C135-4E2B-86FC-055E7E20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CAB88-C82C-42D2-A08D-D5F9909E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813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F64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F64B"/>
                </a:solidFill>
                <a:latin typeface="Aptos Mono"/>
                <a:ea typeface="Aptos Mono"/>
                <a:cs typeface="Aptos Mono"/>
              </a:rPr>
              <a:t>API calls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1629A-B14C-4B14-8493-BB6005A5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34EDF-0C16-4723-845D-D950828A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098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7C8D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7C8D6"/>
                </a:solidFill>
                <a:latin typeface="Aptos Mono"/>
                <a:ea typeface="Aptos Mono"/>
                <a:cs typeface="Aptos Mono"/>
              </a:rPr>
              <a:t>jobs +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F4FB2-60BD-4771-A15F-034D377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D"/>
          </a:solidFill>
          <a:ln xmlns:a="http://schemas.openxmlformats.org/drawingml/2006/main" w="9525">
            <a:solidFill>
              <a:srgbClr val="2F46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D36A9-911C-4724-BB4D-1EB2226A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10150"/>
            <a:ext cx="842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rPr>
              <a:t>Storage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7D314-F67B-4F45-91DB-BB33927B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842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PostgreSQL metadata | raw frames | recon outputs | splats | features | anchors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73563-F57B-4550-8BAB-8331991A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4B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9AA4B2"/>
                </a:solidFill>
                <a:latin typeface="Aptos Mono"/>
                <a:ea typeface="Aptos Mono"/>
                <a:cs typeface="Aptos Mono"/>
              </a:rPr>
              <a:t>Sources: backend/api/routes_scene.py; backend/api/routes_vps.py; backend/workers/tasks.py; unity-sdk/com.vps.sdk</a:t>
            </a:r>
          </a:p>
        </p:txBody>
      </p:sp>
    </p:spTree>
    <p:extLst>
      <p:ext uri="{BB962C8B-B14F-4D97-AF65-F5344CB8AC3E}">
        <p14:creationId xmlns:p14="http://schemas.microsoft.com/office/powerpoint/2010/main" val="20121408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7BC9C-C7B7-4E52-BB2A-6DC3151F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87283-FADC-41F0-A49B-DF5E274C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86C00-B724-4692-84BE-C6E4E949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CLIENT DEMO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E8A83-71B7-4AFB-BE7A-79769087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pilot can be shown as one continuous operating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48AC0-85CE-4FA3-B56A-59F73ADD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This flow is designed for non-technical buyers while still exposing the technical proof needed by implementation teams.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151B1-5E69-45F9-A7B7-938C5A00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F64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B7F64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0B26D-ED83-403C-81A5-6C6E6A35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63023-C8BE-4D39-8A2F-1D1555C3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81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FE52E-204F-4D43-B7D9-CA209CD7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3370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Upload site scan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DF5A5-B6DD-4687-90F8-A27114E5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05150"/>
            <a:ext cx="689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walkthrough video becomes a named scene in the portal.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9B3FB-57E6-4F36-BED2-D99293EA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F64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B7F64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FCA3E-6800-4A74-AFCC-E0B53A71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909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0BAC0-0D3C-4C7A-B34B-1226CB9A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718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16DE1-549A-467D-8940-CC44DE63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2425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Monitor 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1804C-2CF5-49EF-ADC7-6075EB5B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95700"/>
            <a:ext cx="689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Progress surfaces frame extraction, SfM reconstruction, splat generation, and VPS indexing.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7BC31-90BB-4400-B227-88566387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F64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B7F64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3C522-B8C2-4234-AB73-206976EE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4BEEA-3D9B-4AFD-923F-03231B20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624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60EB3-2432-4DD4-BF77-110F5B8E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1480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Inspect 3D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3445DF-AF75-469E-8FD5-9113B277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86250"/>
            <a:ext cx="689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viewer loads Gaussian Splat or fallback point-cloud data with camera poses.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B194B-1F63-47FB-A73B-C866AAA9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7C8D6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37C8D6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BB8662-6E4E-4585-8D76-25E6C9F5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720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51C71-AE9C-4545-8CD5-F42433EA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37C8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6B3A7-1A5C-4B44-8AA2-97A0BDA4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0535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Test positioning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5B1829-3E11-4665-B7B3-398A3A94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76800"/>
            <a:ext cx="689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query image returns 6DoF pose, confidence, and inlier count.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1277B4-8ABB-45F4-90E9-A4B6A7C2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017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F64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B7F64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978DC9-5E70-4616-8032-635289BB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625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2208AF-0E74-4CA4-AC9E-02EEBB72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3BDA85-98C0-4225-83DB-AD377FD1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9590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Place anchors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AA92F5-F082-4D52-9DE9-86679B9E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9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Persistent GLB/object anchors are stored against scene coordinates.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A4AE5-D188-4C74-92A8-5FE88304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200150"/>
            <a:ext cx="2495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3D5145-5CE5-4615-9237-61FEC2AF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525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rPr>
              <a:t>Pilot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01A478-CFCE-4212-A194-DDC2E17D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57350"/>
            <a:ext cx="2152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A client leaves the demo with a reusable site map, working localization endpoint, and a clear integration path for AR or spatial operations.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4F4651-6BA6-40EA-A7B0-9B351546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rPr>
              <a:t>Sources: docs/demo_walkthrough.md; frontend/app/upload; frontend/app/scenes; frontend/app/localize; viewer page</a:t>
            </a:r>
          </a:p>
        </p:txBody>
      </p:sp>
    </p:spTree>
    <p:extLst>
      <p:ext uri="{BB962C8B-B14F-4D97-AF65-F5344CB8AC3E}">
        <p14:creationId xmlns:p14="http://schemas.microsoft.com/office/powerpoint/2010/main" val="15693175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01BC94-DF10-45D8-9C3C-4A04277C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E2EB7-4344-4D43-95F3-9730D694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D040C-512F-4FAA-8A79-59042F0F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EVIDENCE TO SHOW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D517E-70F0-4027-9F52-0E5E8081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85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MVP proves the full loop; pilot metrics need one confirmed benchmark 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2F868-0135-4CCF-8DB7-FF40C8A4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3F5CC-2E38-4171-9DCB-696D32D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Implemented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70031-CD26-4C1F-BD9D-3F8D14F6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scene upload, process queue, frames, anchors, tiles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151F3-A14B-402D-885C-3D4D8A61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0C5CF-079F-4E76-877E-DD1391BA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rPr>
              <a:t>Implemented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DA5AF-7739-475B-AFF4-89A7A9A6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VPS localize API with pose, confidence, inliers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4C818-B9BE-453B-8117-C357F0C4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9545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86EFD-9DC7-49E5-9A46-57598496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478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rPr>
              <a:t>Implemented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01A78-36FB-4AEE-B8DD-94250F25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Unity client path for camera-frame localization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F8569-FEDB-48B8-BFA5-309FB302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2197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7CA96-1647-489B-A99C-3A342872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Proof objects already in repo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0FD98-7373-4FB6-8F4D-3787D8DF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4876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FastAPI routes, Celery processing task, COLMAP/Splatting services, FAISS localization path, 3D viewer managers, anchor persistence, WebSocket agent sync, Unity SDK package.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A1C87-E66B-46CC-A426-9B4A74B4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52197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0C2B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80FB3-DFBF-4F10-ACA0-A9EABD84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4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56B45"/>
                </a:solidFill>
                <a:latin typeface="Aptos Display"/>
                <a:ea typeface="Aptos Display"/>
                <a:cs typeface="Aptos Display"/>
              </a:rPr>
              <a:t>Metric caveat before client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CFD57-DD97-4A6C-BBBA-592D52D2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4876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Current materials contain mixed values: 4.1cm in docs/UI examples, 12cm in mock dashboard data, and broader language such as sub-decimeter. The deck should use final numbers only after one evaluation report is selected.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FE014-2E8F-4B49-B239-DA9031DF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61254-60C8-4068-8F89-5614CA90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Recommended client wording: 'pilot-grade localization with measured pose confidence' until final accuracy data is locked.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A7BAF-3A2C-4C00-B334-E3A1E619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rPr>
              <a:t>Sources: validation_report_agent_4.md; docs/api_contract.md; frontend/lib/api.ts; frontend/app/page.tsx</a:t>
            </a:r>
          </a:p>
        </p:txBody>
      </p:sp>
    </p:spTree>
    <p:extLst>
      <p:ext uri="{BB962C8B-B14F-4D97-AF65-F5344CB8AC3E}">
        <p14:creationId xmlns:p14="http://schemas.microsoft.com/office/powerpoint/2010/main" val="18408188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14798C-9859-4197-BEFC-2353F00C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98D7D-21F4-498C-9CBA-B5E2AF6F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F5132-D12C-499A-8E3B-0E996F22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USE-CASE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A21CB-2462-4EF7-B64F-EC9DDC7F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same spatial map can support multiple high-value verticals.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99162-0529-40A4-B62E-1C79E38C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85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Keep the platform general. Sell the first client a focused pilot, then expand the reusable map into adjacent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73B12-4E10-4D02-AFE4-D32C43F5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F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71A59-1325-459B-BBF2-510B537E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rPr>
              <a:t>Retail and malls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E0058-5034-4154-869E-B93350E2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609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store navigation, campaign AR, product 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06167-FE8B-4D67-9742-E99AE435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C8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D97ED-9F7C-4268-9364-17F50A1D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99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rPr>
              <a:t>Events and exhibitions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9DE14-2DFB-4A6E-A210-6B4BA580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14700"/>
            <a:ext cx="2609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booth wayfinding, shared AR moments, sponsor overlays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053B5-1745-4585-8034-CF593322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50153-A7BB-42BF-8B80-539A9D3C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99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F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FA7FF"/>
                </a:solidFill>
                <a:latin typeface="Aptos Display"/>
                <a:ea typeface="Aptos Display"/>
                <a:cs typeface="Aptos Display"/>
              </a:rPr>
              <a:t>Property and tourism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7F52F-2CAB-474E-A2BD-7A613550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2609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digital twins, guided tours, persistent 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695B9-939C-4025-B716-E6D2A8BB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58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9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B3FFF-7828-40DF-920C-DDC528D7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482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C96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C969"/>
                </a:solidFill>
                <a:latin typeface="Aptos Display"/>
                <a:ea typeface="Aptos Display"/>
                <a:cs typeface="Aptos Display"/>
              </a:rPr>
              <a:t>Industrial sites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B39D3-FA35-44D9-ADDB-499B3D6F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53000"/>
            <a:ext cx="3086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maintenance overlays, safety zones, asset localization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6153E-7D29-49E0-A38F-67312EFB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958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6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3B04F-F9DF-4E67-9BC6-39D1CDCA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4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56B45"/>
                </a:solidFill>
                <a:latin typeface="Aptos Display"/>
                <a:ea typeface="Aptos Display"/>
                <a:cs typeface="Aptos Display"/>
              </a:rPr>
              <a:t>Healthcare campuses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D0DEE-5C56-447B-860B-E9ACFD5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53000"/>
            <a:ext cx="3086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indoor wayfinding, staff coordination, room-level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9B67E-B514-4F68-AFF8-1C961D63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rPr>
              <a:t>Sources: idea.md customer segments; current frontend healthcare example treated as one vertical, not the platform identity</a:t>
            </a:r>
          </a:p>
        </p:txBody>
      </p:sp>
    </p:spTree>
    <p:extLst>
      <p:ext uri="{BB962C8B-B14F-4D97-AF65-F5344CB8AC3E}">
        <p14:creationId xmlns:p14="http://schemas.microsoft.com/office/powerpoint/2010/main" val="14183441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31A60E-2BC7-49F1-BDCE-4D9CE533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B0A10-CA9E-4EF1-82B3-850564C5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E0900-0FCF-4777-9DE5-16891FC8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DA7B6-4B0E-41C2-8F9E-48B38267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wedge is an open, controllable alternative to closed spatial stacks.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D925E-F7CD-493D-AAF3-5A900D12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Open map ownership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48DA1-591D-4C98-A9AD-BD895EDC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4630C-D065-41F5-87B3-A77874DC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308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rPr>
              <a:t>Platform 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6470C-836D-489D-8E92-DF3CE1ED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Client controls site scans, scene IDs, anchors, and API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DC75C-17B4-4513-93FA-62C97D96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37C8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BE059-A08D-477F-9F0F-DF9A16F2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85950"/>
            <a:ext cx="308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rPr>
              <a:t>Client outcome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78DE9-F427-41EA-BC9D-334E3AB3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574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Differentiates from closed ecosystem VPS.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C9557-0DD2-4423-BDFB-6FA5F72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99988-FCEB-4D11-AA7B-56853F88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Photorealistic scene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A11E4-DBB2-4DBB-8905-BC2A980F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B0A3B-78FF-4214-A60B-826DAB2A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62250"/>
            <a:ext cx="308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rPr>
              <a:t>Platform capability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36E68-2FA2-41B6-8394-E9CFCD6E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337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Gaussian Splat / PLY output gives teams a visual map, not only coordinates.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DFF5D-DA4E-4BBC-B415-BBCDDDA8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C8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A9020-8DE7-493A-81C3-F58291BD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62250"/>
            <a:ext cx="308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rPr>
              <a:t>Client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9D28A-6DD9-483C-9CB4-CB8D7C61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337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Bridges 3D capture and AR deployment.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34A52-9A87-4492-AB22-8FCFEA34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06C3A-43FF-49CA-96BC-501DBF06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VPS as a 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1315D-2244-4F5B-B55E-B1304CD4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570513-763F-404D-BE33-91488ED7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38550"/>
            <a:ext cx="308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rPr>
              <a:t>Platform capability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28AB7-8C5F-4F27-BB92-A81CF797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100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Query images return pose, rotation, confidence, and inliers.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0968A-69A9-450E-B03C-2E4D778B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861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37C8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477203-D20A-446F-B20C-1271FB87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38550"/>
            <a:ext cx="308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rPr>
              <a:t>Client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E0908B-BA83-4218-8C34-E7FE31C2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Makes the physical site reusable by multiple apps.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FF5AFA-E5A4-40FB-9528-E9FF6825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FC5C84-0ADB-4F52-8B21-5FA55585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SDK-ready integration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9CE0BF-D11B-4ABD-8FC9-4B562608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7B4251-5FB9-40E3-B036-293FF2A0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14850"/>
            <a:ext cx="308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rPr>
              <a:t>Platform capability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66365-491F-4DEA-9BC4-122BC209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863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Unity package aligns MapSpace to localized camera pose.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A08A9E-5BA4-4808-88A6-6ABCC336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624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C8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CA2C53-A9CB-4909-AAE1-0AC4EA32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14850"/>
            <a:ext cx="308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rPr>
              <a:t>Client outcome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75A881-451E-41BB-AE1E-742EEC99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863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Shortens path from pilot to application.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3D7376-AA26-4223-BB8F-480BD791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672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78E87E-4D8D-4567-A67C-5C1F71B4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rPr>
              <a:t>Sources: gap analysis; README.md; docs/api_contract.md; Unity SDK MapSpace/VPSClient</a:t>
            </a:r>
          </a:p>
        </p:txBody>
      </p:sp>
    </p:spTree>
    <p:extLst>
      <p:ext uri="{BB962C8B-B14F-4D97-AF65-F5344CB8AC3E}">
        <p14:creationId xmlns:p14="http://schemas.microsoft.com/office/powerpoint/2010/main" val="4094183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5078B0-90B4-40D1-867C-02C8DE77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1DD65-EC20-448C-9326-7029094B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042A7-3CB6-42E4-9901-0D54F454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PILOT OFFER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68DC0-0D6D-4B3A-AC6A-7347FEA7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Package the client ask as a bounded spatial-map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9597F-2219-4961-9C20-391E869A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85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first sale should not promise a complete enterprise AR cloud. It should prove one site, one map, one localization loop, and one client integration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70D9B-DF6E-4544-9273-9A8B0DC6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333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12DAE-FBB9-4155-937C-3AAF6906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1. Site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187CC-05B7-429F-9B71-BFED49E2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990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Client selects one floor, venue zone, showroom, or outdoor pocket. Team records guided phone scan and reference query images.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34AD4-34F2-44CF-B646-4078D237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3333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78FAF-A490-49BE-BFDF-8BB2056A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2. Map 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79037-ACA5-46DB-9C0D-3173DAA0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2990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Process scene, produce 3D visual layer, build feature index, define coordinate conventions, and save initial anchors.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D7DE6-8A79-42A5-856B-FFE5523A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3333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B9B1B-D039-49F8-A221-3BA8CBB0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3.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BAB74-F1AE-490A-84A5-3AB31094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52800"/>
            <a:ext cx="2990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Run localization test set, report success rate, translation error, confidence, inliers, and known failure cases.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28F3F-1FED-4DCB-9125-D1ACC169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699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8E0B9-677C-4703-8E01-CB002725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672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Deliverables: hosted scene, API access, 3D viewer, localization report, Unity integration 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40A00-832A-45D3-9105-49AFAF0B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054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0C2B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8DB01-AE94-44A4-9202-355E051D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8160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6B45"/>
                </a:solidFill>
                <a:latin typeface="Aptos"/>
                <a:ea typeface="Aptos"/>
                <a:cs typeface="Aptos"/>
              </a:rPr>
              <a:t>Decision gate: expand to more maps only after measured pilot accuracy is accepted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52626-B571-44BF-A175-395E5368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A8174"/>
                </a:solidFill>
                <a:latin typeface="Aptos Mono"/>
                <a:ea typeface="Aptos Mono"/>
                <a:cs typeface="Aptos Mono"/>
              </a:rPr>
              <a:t>Sources: docs/demo_walkthrough.md; docs/api_contract.md; validation_report_agent_4.md</a:t>
            </a:r>
          </a:p>
        </p:txBody>
      </p:sp>
    </p:spTree>
    <p:extLst>
      <p:ext uri="{BB962C8B-B14F-4D97-AF65-F5344CB8AC3E}">
        <p14:creationId xmlns:p14="http://schemas.microsoft.com/office/powerpoint/2010/main" val="14322194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B4E3FB-279C-475C-A3C4-AAD8875D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D6B76-52BE-455A-BBF5-68289F51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EA1A4-F2AA-42BA-A3F9-7505D279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2C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8C2CF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D1AB8-72E6-4A3D-B467-5873320D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81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From MVP pipeline to production spatial cloud.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7D7A2-079F-4B82-869B-D1C4A242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1"/>
          </a:solidFill>
          <a:ln xmlns:a="http://schemas.openxmlformats.org/drawingml/2006/main" w="9525">
            <a:solidFill>
              <a:srgbClr val="B7F6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EE822-5206-4B5D-BB78-3E98A2D2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7F64B"/>
                </a:solidFill>
                <a:latin typeface="Aptos Display"/>
                <a:ea typeface="Aptos Display"/>
                <a:cs typeface="Aptos Display"/>
              </a:rPr>
              <a:t>Now: full-loop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D284C-BF38-40A4-A57C-35563801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Upload, process, visualize, localize, anchor, Unity client path.</a:t>
            </a:r>
          </a:p>
          <a:p xmlns:a="http://schemas.openxmlformats.org/drawingml/2006/main">
            <a:pPr algn="l">
              <a:defRPr sz="1050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Use for controlled demos and scoped pilots.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FCB1B-A6E8-406C-9887-6CBD87BE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33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8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AAC42-E006-43C0-B595-DACCB9F8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09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182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1829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93497-13C5-40F4-AD95-C4E08CBA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1"/>
          </a:solidFill>
          <a:ln xmlns:a="http://schemas.openxmlformats.org/drawingml/2006/main" w="9525">
            <a:solidFill>
              <a:srgbClr val="37C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04BDA-6111-4722-99CE-BA1F1DF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193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7C8D6"/>
                </a:solidFill>
                <a:latin typeface="Aptos Display"/>
                <a:ea typeface="Aptos Display"/>
                <a:cs typeface="Aptos Display"/>
              </a:rPr>
              <a:t>Next: pilot hardening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CCD4D-DD39-47A8-9B30-09254ED3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Single source of truth for metrics, robust capture protocol, mobile touch viewer, splat format conversion, evaluation reports.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BF709-D187-4FCC-AE8F-E1A34769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33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8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04640-31E8-4F9D-B40E-3A2B12F8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09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182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1829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EBC0C-EF84-4B27-A634-AE04A648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1"/>
          </a:solidFill>
          <a:ln xmlns:a="http://schemas.openxmlformats.org/drawingml/2006/main" w="9525">
            <a:solidFill>
              <a:srgbClr val="F3C9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1EC76-AE19-4C26-8F1A-538835EC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C96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3C969"/>
                </a:solidFill>
                <a:latin typeface="Aptos Display"/>
                <a:ea typeface="Aptos Display"/>
                <a:cs typeface="Aptos Display"/>
              </a:rPr>
              <a:t>Scale: enterprise maps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89AF8-20AE-4262-840E-9D9F135E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CE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CED8"/>
                </a:solidFill>
                <a:latin typeface="Aptos"/>
                <a:ea typeface="Aptos"/>
                <a:cs typeface="Aptos"/>
              </a:rPr>
              <a:t>Deep features, LiDAR/E57 ingestion, map stitching, cloud object storage, SDK background localization, multi-map operations.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A51E4-7271-4158-8359-1C8812DE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Client-facing narrative: start with one valuable physical space, prove reliable localization, then expand the map library.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BFBBA-26AB-485C-956E-DC627736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4B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9AA4B2"/>
                </a:solidFill>
                <a:latin typeface="Aptos Mono"/>
                <a:ea typeface="Aptos Mono"/>
                <a:cs typeface="Aptos Mono"/>
              </a:rPr>
              <a:t>Sources: docs/roadmap_checklist.md; validation_report_agent_4.md; gap analysis roadmap</a:t>
            </a:r>
          </a:p>
        </p:txBody>
      </p:sp>
    </p:spTree>
    <p:extLst>
      <p:ext uri="{BB962C8B-B14F-4D97-AF65-F5344CB8AC3E}">
        <p14:creationId xmlns:p14="http://schemas.microsoft.com/office/powerpoint/2010/main" val="1583976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2026-06-07T23:58:58.3890000Z</dcterms:created>
  <dcterms:modified xsi:type="dcterms:W3CDTF">2026-06-07T23:58:58.3900000Z</dcterms:modified>
</coreProperties>
</file>